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194560" y="4206240"/>
            <a:ext cx="4755000" cy="47550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LAB INCIDENT MANAGEMENT  •  RAG AI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77240" y="233172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LabTrack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370332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full-stack incident tracking system with a governed,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retrieval-augmented AI safety assistant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4709160"/>
            <a:ext cx="2194560" cy="0"/>
          </a:xfrm>
          <a:prstGeom prst="straightConnector1">
            <a:avLst/>
          </a:prstGeom>
          <a:noFill/>
          <a:ln cap="flat" cmpd="sng" w="31750">
            <a:solidFill>
              <a:srgbClr val="12B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ASP.NET Core 8  •  Entity Framework Core  •  SQL Server  •  React (Vite)  •  JWT Auth  •  RAG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9082735" y="6126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September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777240" y="185623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691640" y="185623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Problem &amp; Objectives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691640" y="2258568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Why labs need structured incident tracking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17920" y="1691640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6446520" y="185623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7360920" y="185623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7360920" y="2258568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How the frontend, API, and database fit together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218688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777240" y="3383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691640" y="33832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691640" y="378561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Entity model behind incidents and the AI knowledge 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3218688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6446520" y="3383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7360920" y="33832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Part 1 — Incident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7360920" y="3785616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Roles, status lifecycle,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745736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777240" y="491032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691640" y="49103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Part 2 — RAG AI Assistant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691640" y="5312664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Chunk, embed, retrieve, generate — grounded answers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17920" y="4745736"/>
            <a:ext cx="5349240" cy="1234440"/>
          </a:xfrm>
          <a:prstGeom prst="roundRect">
            <a:avLst>
              <a:gd fmla="val 6667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446520" y="4910328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360920" y="491032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Governance &amp;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360920" y="5312664"/>
            <a:ext cx="3977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Approval gate, pluggable AI, automated tests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Two real problems, one connected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1837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48640" y="1691640"/>
            <a:ext cx="5394960" cy="594360"/>
          </a:xfrm>
          <a:prstGeom prst="roundRect">
            <a:avLst>
              <a:gd fmla="val 13846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822960" y="169164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868630" y="2842550"/>
            <a:ext cx="47550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Lab incidents (spills, equipment failures, near-misses) are tracked inconsistently — emails, paper logs, spreadsheets.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No enforced workflow means incidents get logged but never followed up, investigated, or closed out.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Safety procedures exist as scattered documents; nobody can quickly ask "what do I do right now?" and trust the answer.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Any AI shortcut here is dangerous if it can hallucinate a safety procedure that was never approved.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263640" y="1691640"/>
            <a:ext cx="5394960" cy="4480560"/>
          </a:xfrm>
          <a:prstGeom prst="roundRect">
            <a:avLst>
              <a:gd fmla="val 1837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263640" y="1691640"/>
            <a:ext cx="5394960" cy="594360"/>
          </a:xfrm>
          <a:prstGeom prst="roundRect">
            <a:avLst>
              <a:gd fmla="val 13846" name="adj"/>
            </a:avLst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6537960" y="169164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6583618" y="2926188"/>
            <a:ext cx="47550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Give every incident a structured lifecycle </a:t>
            </a:r>
            <a:r>
              <a:rPr b="1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(Open → Investigating → Resolved → Closed)</a:t>
            </a: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 with role-aware actions.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Let the team ask natural-language safety questions and get answers grounded only in vetted documents.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B2140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Guarantee the AI never answers from unreviewed or invented material — and says "</a:t>
            </a:r>
            <a:r>
              <a:rPr lang="en-US" sz="1450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out of context</a:t>
            </a:r>
            <a:r>
              <a:rPr b="0" i="0" lang="en-US" sz="14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" when it should.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One system, two connected parts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fmla="val 1957" name="adj"/>
            </a:avLst>
          </a:prstGeom>
          <a:solidFill>
            <a:srgbClr val="FFFFFF"/>
          </a:solidFill>
          <a:ln cap="flat" cmpd="sng" w="12700">
            <a:solidFill>
              <a:srgbClr val="12B5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45820" y="208026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845820" y="20802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1783080" y="2130552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Web App — Incident Tracking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868680" y="306324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ASP.NET Core 8 Web API + EF Core + SQL Server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React (Vite) single-page frontend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JWT authentication, 3 roles (LabUser, Reviewer, Administrator)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Status workflow with validation 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Filters: status, severity, free-text search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fmla="val 1957" name="adj"/>
            </a:avLst>
          </a:prstGeom>
          <a:solidFill>
            <a:srgbClr val="FFFFFF"/>
          </a:solidFill>
          <a:ln cap="flat" cmpd="sng" w="12700">
            <a:solidFill>
              <a:srgbClr val="12B5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560820" y="2080260"/>
            <a:ext cx="777240" cy="777240"/>
          </a:xfrm>
          <a:prstGeom prst="ellipse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6560820" y="208026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7498080" y="2130552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AI Assistant — Grounded RAG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6583680" y="306324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Uploaded documents are chunked and embedded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Questions retrieve only Administrator-approved chunks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Answers cite document, chunk index, similarity score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Refuses to answer when no relevant chunk exists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Pluggable: local (free) or OpenAI embeddings/generation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509201" y="3388350"/>
            <a:ext cx="868800" cy="32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548640" y="12070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Layered ASP.NET Core API with a pluggable AI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40" y="1737360"/>
            <a:ext cx="2743200" cy="914400"/>
          </a:xfrm>
          <a:prstGeom prst="roundRect">
            <a:avLst>
              <a:gd fmla="val 9000" name="adj"/>
            </a:avLst>
          </a:prstGeom>
          <a:solidFill>
            <a:srgbClr val="1E2761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548640" y="173736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(Vite, port 5173)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429000" y="2093976"/>
            <a:ext cx="5029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3154680" y="23957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HTTPS + JWT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069075" y="1417325"/>
            <a:ext cx="4937700" cy="4416600"/>
          </a:xfrm>
          <a:prstGeom prst="roundRect">
            <a:avLst>
              <a:gd fmla="val 1748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4251960" y="15361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ASP.NET CORE WEB API  ·  Program.cs (DI, JWT, CORS, Swagger)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251960" y="1965960"/>
            <a:ext cx="4480560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/>
        </p:nvSpPr>
        <p:spPr>
          <a:xfrm>
            <a:off x="4434840" y="20391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Controllers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4434840" y="229514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Auth · Incidents · Documents · Ai · Admin ·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251960" y="2834640"/>
            <a:ext cx="4480560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4434840" y="29077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4434840" y="31638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IncidentService · DocumentService · RagService · AdminService · AuthService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251960" y="3703320"/>
            <a:ext cx="4480560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434840" y="37764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4434840" y="403250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ExceptionHandlingMiddleware (global error handling)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251960" y="4572000"/>
            <a:ext cx="4480560" cy="713232"/>
          </a:xfrm>
          <a:prstGeom prst="roundRect">
            <a:avLst>
              <a:gd fmla="val 11538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4434840" y="46451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Data (EF Core)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4434840" y="490118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AppDbContext + DbSeeder → SQL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006840" y="2093976"/>
            <a:ext cx="5029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9601200" y="1737360"/>
            <a:ext cx="2057400" cy="914400"/>
          </a:xfrm>
          <a:prstGeom prst="roundRect">
            <a:avLst>
              <a:gd fmla="val 9000" name="adj"/>
            </a:avLst>
          </a:prstGeom>
          <a:solidFill>
            <a:srgbClr val="141B4D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9601200" y="17373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Server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(EF Core Migrations)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601200" y="3063249"/>
            <a:ext cx="2057400" cy="2770800"/>
          </a:xfrm>
          <a:prstGeom prst="roundRect">
            <a:avLst>
              <a:gd fmla="val 4000" name="adj"/>
            </a:avLst>
          </a:prstGeom>
          <a:solidFill>
            <a:srgbClr val="12B5A6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9881250" y="326895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Services/Ai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9881250" y="3298525"/>
            <a:ext cx="2001300" cy="24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TextChunker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IEmbeddingService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→ Local / OpenAI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ITextGenerationService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→ Local / OpenAI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IRagService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8732520" y="3246120"/>
            <a:ext cx="822960" cy="0"/>
          </a:xfrm>
          <a:prstGeom prst="straightConnector1">
            <a:avLst/>
          </a:prstGeom>
          <a:noFill/>
          <a:ln cap="flat" cmpd="sng" w="19050">
            <a:solidFill>
              <a:srgbClr val="5B628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7" name="Google Shape;127;p7"/>
          <p:cNvSpPr txBox="1"/>
          <p:nvPr/>
        </p:nvSpPr>
        <p:spPr>
          <a:xfrm>
            <a:off x="7955280" y="32918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interfaces via DI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173736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48640" y="1737360"/>
            <a:ext cx="82296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822960" y="1901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822960" y="215798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React 18 (Vite)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822960" y="25603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Component pages, AuthContext, a single api/client.js for all fetch calls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480560" y="173736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480560" y="1737360"/>
            <a:ext cx="82296" cy="1874520"/>
          </a:xfrm>
          <a:prstGeom prst="rect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4754880" y="1901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4754880" y="215798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ASP.NET Core 8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754880" y="25603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Controllers → Services → EF Core, thin controllers, DTOs isolate 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412480" y="173736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8412480" y="1737360"/>
            <a:ext cx="82296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8686800" y="1901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8686800" y="215798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SQL Server + EF Core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8686800" y="25603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Code-first migrations, seeded demo users &amp; sample severities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388620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48640" y="3886200"/>
            <a:ext cx="82296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822960" y="40507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22960" y="430682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JWT Bearer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822960" y="470916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Role claims (LabUser / Reviewer / Administrator), Swagger "Authorize"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480560" y="388620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480560" y="3886200"/>
            <a:ext cx="82296" cy="1874520"/>
          </a:xfrm>
          <a:prstGeom prst="rect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4754880" y="40507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4754880" y="430682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Pluggable RAG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4754880" y="470916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Local hashed-embedding provider by default; swappable to OpenAI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412480" y="3886200"/>
            <a:ext cx="3611880" cy="187452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8412480" y="3886200"/>
            <a:ext cx="82296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8686800" y="405079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686800" y="430682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xUnit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8686800" y="470916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Unit tests (in-memory DB) + integration tests via WebApplicationFactory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DATA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548640" y="704093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Database schema — entity relationships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9"/>
          <p:cNvGrpSpPr/>
          <p:nvPr/>
        </p:nvGrpSpPr>
        <p:grpSpPr>
          <a:xfrm>
            <a:off x="540990" y="1626893"/>
            <a:ext cx="11155571" cy="4271862"/>
            <a:chOff x="502920" y="1527048"/>
            <a:chExt cx="11110020" cy="2880360"/>
          </a:xfrm>
        </p:grpSpPr>
        <p:sp>
          <p:nvSpPr>
            <p:cNvPr id="177" name="Google Shape;177;p9"/>
            <p:cNvSpPr/>
            <p:nvPr/>
          </p:nvSpPr>
          <p:spPr>
            <a:xfrm>
              <a:off x="502920" y="1572768"/>
              <a:ext cx="1783080" cy="105156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2700">
              <a:solidFill>
                <a:srgbClr val="1E276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2920" y="1572768"/>
              <a:ext cx="1783080" cy="292608"/>
            </a:xfrm>
            <a:prstGeom prst="roundRect">
              <a:avLst>
                <a:gd fmla="val 1875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502920" y="1719072"/>
              <a:ext cx="1783080" cy="146304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9"/>
            <p:cNvSpPr txBox="1"/>
            <p:nvPr/>
          </p:nvSpPr>
          <p:spPr>
            <a:xfrm>
              <a:off x="502920" y="1572768"/>
              <a:ext cx="178308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935811" y="1965980"/>
              <a:ext cx="15819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FullName, Email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PasswordHash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Role, IsActive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2743200" y="1572768"/>
              <a:ext cx="1920240" cy="1417320"/>
            </a:xfrm>
            <a:prstGeom prst="roundRect">
              <a:avLst>
                <a:gd fmla="val 3871" name="adj"/>
              </a:avLst>
            </a:prstGeom>
            <a:solidFill>
              <a:srgbClr val="FFFFFF"/>
            </a:solidFill>
            <a:ln cap="flat" cmpd="sng" w="12700">
              <a:solidFill>
                <a:srgbClr val="1E276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2743200" y="1572768"/>
              <a:ext cx="1920240" cy="292608"/>
            </a:xfrm>
            <a:prstGeom prst="roundRect">
              <a:avLst>
                <a:gd fmla="val 1875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2743200" y="1719072"/>
              <a:ext cx="1920240" cy="146304"/>
            </a:xfrm>
            <a:prstGeom prst="rect">
              <a:avLst/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2743200" y="1572768"/>
              <a:ext cx="19202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Incident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3076959" y="1929393"/>
              <a:ext cx="1719000" cy="9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Title, Category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Severity, Status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CreatedByUserId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AssignedToUserId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166360" y="1527048"/>
              <a:ext cx="1783080" cy="105156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2700">
              <a:solidFill>
                <a:srgbClr val="12B5A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5166360" y="1527048"/>
              <a:ext cx="1783080" cy="292608"/>
            </a:xfrm>
            <a:prstGeom prst="roundRect">
              <a:avLst>
                <a:gd fmla="val 18750" name="adj"/>
              </a:avLst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166360" y="1673352"/>
              <a:ext cx="1783080" cy="146304"/>
            </a:xfrm>
            <a:prstGeom prst="rect">
              <a:avLst/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5166360" y="1527048"/>
              <a:ext cx="178308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StatusHistory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5276088" y="1874520"/>
              <a:ext cx="1581912" cy="630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IncidentId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From/ToStatus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ChangedByUserId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5166360" y="2807208"/>
              <a:ext cx="1783080" cy="96012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2700">
              <a:solidFill>
                <a:srgbClr val="12B5A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5166360" y="2807208"/>
              <a:ext cx="1783080" cy="292608"/>
            </a:xfrm>
            <a:prstGeom prst="roundRect">
              <a:avLst>
                <a:gd fmla="val 18750" name="adj"/>
              </a:avLst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5166360" y="2953512"/>
              <a:ext cx="1783080" cy="146304"/>
            </a:xfrm>
            <a:prstGeom prst="rect">
              <a:avLst/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9"/>
            <p:cNvSpPr txBox="1"/>
            <p:nvPr/>
          </p:nvSpPr>
          <p:spPr>
            <a:xfrm>
              <a:off x="5166360" y="2807208"/>
              <a:ext cx="178308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InvestigationNote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5276088" y="3154680"/>
              <a:ext cx="1581912" cy="539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IncidentId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Content, AuthorUserId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2743200" y="3355848"/>
              <a:ext cx="1920240" cy="105156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2700">
              <a:solidFill>
                <a:srgbClr val="12B5A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2743200" y="3355848"/>
              <a:ext cx="1920240" cy="292608"/>
            </a:xfrm>
            <a:prstGeom prst="roundRect">
              <a:avLst>
                <a:gd fmla="val 18750" name="adj"/>
              </a:avLst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2743200" y="3502152"/>
              <a:ext cx="1920240" cy="146304"/>
            </a:xfrm>
            <a:prstGeom prst="rect">
              <a:avLst/>
            </a:prstGeom>
            <a:solidFill>
              <a:srgbClr val="12B5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 txBox="1"/>
            <p:nvPr/>
          </p:nvSpPr>
          <p:spPr>
            <a:xfrm>
              <a:off x="2743200" y="3355848"/>
              <a:ext cx="19202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CorrectiveAction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2852928" y="3703320"/>
              <a:ext cx="1719072" cy="630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IncidentId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Description, IsCompleted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CreatedByUserId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452360" y="1572768"/>
              <a:ext cx="1920240" cy="123444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2700">
              <a:solidFill>
                <a:srgbClr val="141B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452360" y="1572768"/>
              <a:ext cx="1920240" cy="292608"/>
            </a:xfrm>
            <a:prstGeom prst="roundRect">
              <a:avLst>
                <a:gd fmla="val 18750" name="adj"/>
              </a:avLst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7452360" y="1719072"/>
              <a:ext cx="1920240" cy="146304"/>
            </a:xfrm>
            <a:prstGeom prst="rect">
              <a:avLst/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 txBox="1"/>
            <p:nvPr/>
          </p:nvSpPr>
          <p:spPr>
            <a:xfrm>
              <a:off x="7452360" y="1572768"/>
              <a:ext cx="19202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DocumentItem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7562088" y="1920240"/>
              <a:ext cx="1719072" cy="8138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Title, FileName, FullText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Status (Pending/Approved/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 Rejected)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UploadedByUserId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9692640" y="1572768"/>
              <a:ext cx="1920240" cy="105156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2700">
              <a:solidFill>
                <a:srgbClr val="141B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9692640" y="1572768"/>
              <a:ext cx="1920240" cy="292608"/>
            </a:xfrm>
            <a:prstGeom prst="roundRect">
              <a:avLst>
                <a:gd fmla="val 18750" name="adj"/>
              </a:avLst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9692640" y="1719072"/>
              <a:ext cx="1920240" cy="146304"/>
            </a:xfrm>
            <a:prstGeom prst="rect">
              <a:avLst/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 txBox="1"/>
            <p:nvPr/>
          </p:nvSpPr>
          <p:spPr>
            <a:xfrm>
              <a:off x="9692640" y="1572768"/>
              <a:ext cx="19203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DocumentChunk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9"/>
            <p:cNvSpPr txBox="1"/>
            <p:nvPr/>
          </p:nvSpPr>
          <p:spPr>
            <a:xfrm>
              <a:off x="9802368" y="1920240"/>
              <a:ext cx="1719072" cy="630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DocumentItemId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ChunkIndex, Content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EmbeddingCsv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7452360" y="3172968"/>
              <a:ext cx="1920240" cy="105156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2700">
              <a:solidFill>
                <a:srgbClr val="141B4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25400">
                <a:srgbClr val="1B2140">
                  <a:alpha val="1215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7452360" y="3172968"/>
              <a:ext cx="1920240" cy="292608"/>
            </a:xfrm>
            <a:prstGeom prst="roundRect">
              <a:avLst>
                <a:gd fmla="val 18750" name="adj"/>
              </a:avLst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7452360" y="3319272"/>
              <a:ext cx="1920240" cy="146304"/>
            </a:xfrm>
            <a:prstGeom prst="rect">
              <a:avLst/>
            </a:prstGeom>
            <a:solidFill>
              <a:srgbClr val="141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7452360" y="3172968"/>
              <a:ext cx="1920240" cy="292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AiQueryLog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 txBox="1"/>
            <p:nvPr/>
          </p:nvSpPr>
          <p:spPr>
            <a:xfrm>
              <a:off x="7562088" y="3520440"/>
              <a:ext cx="1719072" cy="630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PK Id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AskedByUserId (FK)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Question, AnswerText</a:t>
              </a:r>
              <a:endParaRPr b="0" i="0" sz="8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b="0" i="0" lang="en-US" sz="870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WasGrounded</a:t>
              </a:r>
              <a:endParaRPr b="0" i="0" sz="87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rPr lang="en-US" sz="870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SourceChunkID</a:t>
              </a:r>
              <a:endParaRPr sz="870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870"/>
                <a:buFont typeface="Calibri"/>
                <a:buNone/>
              </a:pPr>
              <a:r>
                <a:t/>
              </a:r>
              <a:endParaRPr sz="870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7" name="Google Shape;217;p9"/>
            <p:cNvCxnSpPr/>
            <p:nvPr/>
          </p:nvCxnSpPr>
          <p:spPr>
            <a:xfrm>
              <a:off x="2286000" y="2029968"/>
              <a:ext cx="457200" cy="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" name="Google Shape;218;p9"/>
            <p:cNvSpPr txBox="1"/>
            <p:nvPr/>
          </p:nvSpPr>
          <p:spPr>
            <a:xfrm>
              <a:off x="2322576" y="1920240"/>
              <a:ext cx="384048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1..*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9" name="Google Shape;219;p9"/>
            <p:cNvCxnSpPr/>
            <p:nvPr/>
          </p:nvCxnSpPr>
          <p:spPr>
            <a:xfrm>
              <a:off x="4663440" y="1984248"/>
              <a:ext cx="502920" cy="4572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9"/>
            <p:cNvSpPr txBox="1"/>
            <p:nvPr/>
          </p:nvSpPr>
          <p:spPr>
            <a:xfrm>
              <a:off x="4700016" y="1897380"/>
              <a:ext cx="429768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1..*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9"/>
            <p:cNvCxnSpPr/>
            <p:nvPr/>
          </p:nvCxnSpPr>
          <p:spPr>
            <a:xfrm>
              <a:off x="4663440" y="2578608"/>
              <a:ext cx="502920" cy="68580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" name="Google Shape;222;p9"/>
            <p:cNvSpPr txBox="1"/>
            <p:nvPr/>
          </p:nvSpPr>
          <p:spPr>
            <a:xfrm>
              <a:off x="4700016" y="2811780"/>
              <a:ext cx="429768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1..*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" name="Google Shape;223;p9"/>
            <p:cNvCxnSpPr/>
            <p:nvPr/>
          </p:nvCxnSpPr>
          <p:spPr>
            <a:xfrm>
              <a:off x="3383280" y="2990088"/>
              <a:ext cx="0" cy="36576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4" name="Google Shape;224;p9"/>
            <p:cNvSpPr txBox="1"/>
            <p:nvPr/>
          </p:nvSpPr>
          <p:spPr>
            <a:xfrm>
              <a:off x="3227832" y="3063240"/>
              <a:ext cx="310896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1..*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5" name="Google Shape;225;p9"/>
            <p:cNvCxnSpPr/>
            <p:nvPr/>
          </p:nvCxnSpPr>
          <p:spPr>
            <a:xfrm>
              <a:off x="9372600" y="2075688"/>
              <a:ext cx="320040" cy="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6" name="Google Shape;226;p9"/>
            <p:cNvSpPr txBox="1"/>
            <p:nvPr/>
          </p:nvSpPr>
          <p:spPr>
            <a:xfrm>
              <a:off x="9377172" y="1965960"/>
              <a:ext cx="310896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1..*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7" name="Google Shape;227;p9"/>
            <p:cNvCxnSpPr/>
            <p:nvPr/>
          </p:nvCxnSpPr>
          <p:spPr>
            <a:xfrm>
              <a:off x="8412480" y="2807208"/>
              <a:ext cx="0" cy="365760"/>
            </a:xfrm>
            <a:prstGeom prst="straightConnector1">
              <a:avLst/>
            </a:prstGeom>
            <a:noFill/>
            <a:ln cap="flat" cmpd="sng" w="15875">
              <a:solidFill>
                <a:srgbClr val="5B628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9"/>
            <p:cNvSpPr txBox="1"/>
            <p:nvPr/>
          </p:nvSpPr>
          <p:spPr>
            <a:xfrm>
              <a:off x="8257032" y="2880360"/>
              <a:ext cx="310896" cy="2194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284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5B6284"/>
                  </a:solidFill>
                  <a:latin typeface="Calibri"/>
                  <a:ea typeface="Calibri"/>
                  <a:cs typeface="Calibri"/>
                  <a:sym typeface="Calibri"/>
                </a:rPr>
                <a:t>logged in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9"/>
          <p:cNvSpPr txBox="1"/>
          <p:nvPr/>
        </p:nvSpPr>
        <p:spPr>
          <a:xfrm>
            <a:off x="540878" y="5943601"/>
            <a:ext cx="1115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Governance boundary: DocumentChunk rows are only retrievable by RagService when their parent DocumentItem.Status = Approved. (User FK links — CreatedBy, AssignedTo, UploadedBy, ChangedBy, AuthorUserId — omitted above for clarity.)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>
            <a:endCxn id="215" idx="3"/>
          </p:cNvCxnSpPr>
          <p:nvPr/>
        </p:nvCxnSpPr>
        <p:spPr>
          <a:xfrm flipH="1">
            <a:off x="9447035" y="3282640"/>
            <a:ext cx="881700" cy="100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3" name="Google Shape;233;p9"/>
          <p:cNvSpPr txBox="1"/>
          <p:nvPr/>
        </p:nvSpPr>
        <p:spPr>
          <a:xfrm>
            <a:off x="8517300" y="3612825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*..1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ACCESS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roles, deliberately different authority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0"/>
          <p:cNvGrpSpPr/>
          <p:nvPr/>
        </p:nvGrpSpPr>
        <p:grpSpPr>
          <a:xfrm>
            <a:off x="548626" y="1600208"/>
            <a:ext cx="11064240" cy="3868541"/>
            <a:chOff x="548640" y="1600200"/>
            <a:chExt cx="11064240" cy="3419856"/>
          </a:xfrm>
        </p:grpSpPr>
        <p:sp>
          <p:nvSpPr>
            <p:cNvPr id="242" name="Google Shape;242;p10"/>
            <p:cNvSpPr/>
            <p:nvPr/>
          </p:nvSpPr>
          <p:spPr>
            <a:xfrm>
              <a:off x="548640" y="1600200"/>
              <a:ext cx="11064240" cy="457200"/>
            </a:xfrm>
            <a:prstGeom prst="roundRect">
              <a:avLst>
                <a:gd fmla="val 10000" name="adj"/>
              </a:avLst>
            </a:prstGeom>
            <a:solidFill>
              <a:srgbClr val="1E2761"/>
            </a:solidFill>
            <a:ln cap="flat" cmpd="sng" w="14375">
              <a:solidFill>
                <a:srgbClr val="D7DE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 txBox="1"/>
            <p:nvPr/>
          </p:nvSpPr>
          <p:spPr>
            <a:xfrm>
              <a:off x="685800" y="1600200"/>
              <a:ext cx="5577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7"/>
                <a:buFont typeface="Calibri"/>
                <a:buNone/>
              </a:pPr>
              <a:r>
                <a:rPr b="1" i="0" lang="en-US" sz="1357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Capability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0"/>
            <p:cNvSpPr txBox="1"/>
            <p:nvPr/>
          </p:nvSpPr>
          <p:spPr>
            <a:xfrm>
              <a:off x="6446520" y="1600200"/>
              <a:ext cx="1828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7"/>
                <a:buFont typeface="Calibri"/>
                <a:buNone/>
              </a:pPr>
              <a:r>
                <a:rPr b="1" i="0" lang="en-US" sz="1357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LabUser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 txBox="1"/>
            <p:nvPr/>
          </p:nvSpPr>
          <p:spPr>
            <a:xfrm>
              <a:off x="8458200" y="1600200"/>
              <a:ext cx="14630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7"/>
                <a:buFont typeface="Calibri"/>
                <a:buNone/>
              </a:pPr>
              <a:r>
                <a:rPr b="1" i="0" lang="en-US" sz="1357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Reviewer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 txBox="1"/>
            <p:nvPr/>
          </p:nvSpPr>
          <p:spPr>
            <a:xfrm>
              <a:off x="10104120" y="1600200"/>
              <a:ext cx="14630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57"/>
                <a:buFont typeface="Calibri"/>
                <a:buNone/>
              </a:pPr>
              <a:r>
                <a:rPr b="1" i="0" lang="en-US" sz="1357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Administrator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548640" y="2057400"/>
              <a:ext cx="11064240" cy="493776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 txBox="1"/>
            <p:nvPr/>
          </p:nvSpPr>
          <p:spPr>
            <a:xfrm>
              <a:off x="685800" y="2057400"/>
              <a:ext cx="548640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1357"/>
                <a:buFont typeface="Calibri"/>
                <a:buNone/>
              </a:pPr>
              <a:r>
                <a:rPr lang="en-US" sz="1357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Log a new Incident </a:t>
              </a:r>
              <a:endParaRPr b="0" i="0" sz="158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0"/>
            <p:cNvSpPr txBox="1"/>
            <p:nvPr/>
          </p:nvSpPr>
          <p:spPr>
            <a:xfrm>
              <a:off x="6309360" y="2057400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0"/>
            <p:cNvSpPr txBox="1"/>
            <p:nvPr/>
          </p:nvSpPr>
          <p:spPr>
            <a:xfrm>
              <a:off x="8321040" y="2057400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0"/>
            <p:cNvSpPr txBox="1"/>
            <p:nvPr/>
          </p:nvSpPr>
          <p:spPr>
            <a:xfrm>
              <a:off x="9966960" y="2057400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548640" y="2551176"/>
              <a:ext cx="11064240" cy="493776"/>
            </a:xfrm>
            <a:prstGeom prst="roundRect">
              <a:avLst>
                <a:gd fmla="val 16667" name="adj"/>
              </a:avLst>
            </a:prstGeom>
            <a:solidFill>
              <a:srgbClr val="F4F6FC"/>
            </a:solidFill>
            <a:ln>
              <a:noFill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0"/>
            <p:cNvSpPr txBox="1"/>
            <p:nvPr/>
          </p:nvSpPr>
          <p:spPr>
            <a:xfrm>
              <a:off x="685800" y="2551176"/>
              <a:ext cx="548640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1357"/>
                <a:buFont typeface="Calibri"/>
                <a:buNone/>
              </a:pPr>
              <a:r>
                <a:rPr lang="en-US" sz="1357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Move Status and Resolve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0"/>
            <p:cNvSpPr txBox="1"/>
            <p:nvPr/>
          </p:nvSpPr>
          <p:spPr>
            <a:xfrm>
              <a:off x="6309360" y="2551176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t/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0"/>
            <p:cNvSpPr txBox="1"/>
            <p:nvPr/>
          </p:nvSpPr>
          <p:spPr>
            <a:xfrm>
              <a:off x="8321040" y="2551176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 txBox="1"/>
            <p:nvPr/>
          </p:nvSpPr>
          <p:spPr>
            <a:xfrm>
              <a:off x="9966960" y="2551176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548640" y="3044952"/>
              <a:ext cx="11064240" cy="493776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0"/>
            <p:cNvSpPr txBox="1"/>
            <p:nvPr/>
          </p:nvSpPr>
          <p:spPr>
            <a:xfrm>
              <a:off x="685800" y="3044952"/>
              <a:ext cx="548640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1357"/>
                <a:buFont typeface="Calibri"/>
                <a:buNone/>
              </a:pPr>
              <a:r>
                <a:rPr b="0" i="0" lang="en-US" sz="1357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Upload a candidate knowledge document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0"/>
            <p:cNvSpPr txBox="1"/>
            <p:nvPr/>
          </p:nvSpPr>
          <p:spPr>
            <a:xfrm>
              <a:off x="6309360" y="3044952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C7CCD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0"/>
            <p:cNvSpPr txBox="1"/>
            <p:nvPr/>
          </p:nvSpPr>
          <p:spPr>
            <a:xfrm>
              <a:off x="8321040" y="3044952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9966960" y="3044952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548640" y="3538728"/>
              <a:ext cx="11064240" cy="493776"/>
            </a:xfrm>
            <a:prstGeom prst="roundRect">
              <a:avLst>
                <a:gd fmla="val 16667" name="adj"/>
              </a:avLst>
            </a:prstGeom>
            <a:solidFill>
              <a:srgbClr val="F4F6FC"/>
            </a:solidFill>
            <a:ln>
              <a:noFill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0"/>
            <p:cNvSpPr txBox="1"/>
            <p:nvPr/>
          </p:nvSpPr>
          <p:spPr>
            <a:xfrm>
              <a:off x="685800" y="3538728"/>
              <a:ext cx="548640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1357"/>
                <a:buFont typeface="Calibri"/>
                <a:buNone/>
              </a:pPr>
              <a:r>
                <a:rPr b="0" i="0" lang="en-US" sz="1357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Approve / reject a document for the AI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0"/>
            <p:cNvSpPr txBox="1"/>
            <p:nvPr/>
          </p:nvSpPr>
          <p:spPr>
            <a:xfrm>
              <a:off x="6309360" y="3538728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C7CCD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8321040" y="3538728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C7CCD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 txBox="1"/>
            <p:nvPr/>
          </p:nvSpPr>
          <p:spPr>
            <a:xfrm>
              <a:off x="9966960" y="3538728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548640" y="4032504"/>
              <a:ext cx="11064240" cy="493776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3425" lIns="103425" spcFirstLastPara="1" rIns="103425" wrap="square" tIns="103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685800" y="4032504"/>
              <a:ext cx="548640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140"/>
                </a:buClr>
                <a:buSzPts val="1357"/>
                <a:buFont typeface="Calibri"/>
                <a:buNone/>
              </a:pPr>
              <a:r>
                <a:rPr b="0" i="0" lang="en-US" sz="1357" u="none" cap="none" strike="noStrike">
                  <a:solidFill>
                    <a:srgbClr val="1B2140"/>
                  </a:solidFill>
                  <a:latin typeface="Calibri"/>
                  <a:ea typeface="Calibri"/>
                  <a:cs typeface="Calibri"/>
                  <a:sym typeface="Calibri"/>
                </a:rPr>
                <a:t>Manage user accounts (roles, activation)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0"/>
            <p:cNvSpPr txBox="1"/>
            <p:nvPr/>
          </p:nvSpPr>
          <p:spPr>
            <a:xfrm>
              <a:off x="6309360" y="4032504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C7CCD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0"/>
            <p:cNvSpPr txBox="1"/>
            <p:nvPr/>
          </p:nvSpPr>
          <p:spPr>
            <a:xfrm>
              <a:off x="8321040" y="4032504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C7CCD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9966960" y="4032504"/>
              <a:ext cx="164592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2B5A6"/>
                </a:buClr>
                <a:buSzPts val="1697"/>
                <a:buFont typeface="Calibri"/>
                <a:buNone/>
              </a:pPr>
              <a:r>
                <a:rPr b="1" i="0" lang="en-US" sz="1697" u="none" cap="none" strike="noStrike">
                  <a:solidFill>
                    <a:srgbClr val="12B5A6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 txBox="1"/>
            <p:nvPr/>
          </p:nvSpPr>
          <p:spPr>
            <a:xfrm>
              <a:off x="6309360" y="4526280"/>
              <a:ext cx="2011680" cy="493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C7CCDE"/>
                </a:buClr>
                <a:buSzPts val="1697"/>
                <a:buFont typeface="Calibri"/>
                <a:buNone/>
              </a:pPr>
              <a:r>
                <a:t/>
              </a:r>
              <a:endParaRPr b="0" i="0" sz="16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0"/>
          <p:cNvSpPr/>
          <p:nvPr/>
        </p:nvSpPr>
        <p:spPr>
          <a:xfrm>
            <a:off x="548640" y="5202936"/>
            <a:ext cx="11064240" cy="731520"/>
          </a:xfrm>
          <a:prstGeom prst="roundRect">
            <a:avLst>
              <a:gd fmla="val 11250" name="adj"/>
            </a:avLst>
          </a:prstGeom>
          <a:solidFill>
            <a:srgbClr val="1E2761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 txBox="1"/>
          <p:nvPr/>
        </p:nvSpPr>
        <p:spPr>
          <a:xfrm>
            <a:off x="777240" y="5202936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Key control: uploading a document does not make the AI use it. Every upload starts Pending — RagService retrieves only Approved chunks. A Reviewer can submit a safety procedure; only an Administrator can approve it into the assistant's working knowledge base.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/>
        </p:nvSpPr>
        <p:spPr>
          <a:xfrm>
            <a:off x="548640" y="47547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PART 1 — CORE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548640" y="94244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Incident lifecycle: a validated state machine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85800" y="2377440"/>
            <a:ext cx="2286000" cy="1005840"/>
          </a:xfrm>
          <a:prstGeom prst="roundRect">
            <a:avLst>
              <a:gd fmla="val 10909" name="adj"/>
            </a:avLst>
          </a:prstGeom>
          <a:solidFill>
            <a:srgbClr val="1E2761"/>
          </a:solidFill>
          <a:ln>
            <a:noFill/>
          </a:ln>
          <a:effectLst>
            <a:outerShdw blurRad="101600" rotWithShape="0" algn="bl" dir="5400000" dist="25400">
              <a:srgbClr val="1B214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 txBox="1"/>
          <p:nvPr/>
        </p:nvSpPr>
        <p:spPr>
          <a:xfrm>
            <a:off x="685800" y="2592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685800" y="2011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044952" y="2779776"/>
            <a:ext cx="44805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548640" y="35478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Created by any LabUser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566160" y="2377440"/>
            <a:ext cx="2286000" cy="1005840"/>
          </a:xfrm>
          <a:prstGeom prst="roundRect">
            <a:avLst>
              <a:gd fmla="val 10909" name="adj"/>
            </a:avLst>
          </a:prstGeom>
          <a:solidFill>
            <a:srgbClr val="12B5A6"/>
          </a:solidFill>
          <a:ln>
            <a:noFill/>
          </a:ln>
          <a:effectLst>
            <a:outerShdw blurRad="101600" rotWithShape="0" algn="bl" dir="5400000" dist="25400">
              <a:srgbClr val="1B214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3566160" y="2592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Investigating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3566160" y="2011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925312" y="2779776"/>
            <a:ext cx="44805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3429000" y="35478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Reviewer / Admin moves status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446520" y="2377440"/>
            <a:ext cx="2286000" cy="1005840"/>
          </a:xfrm>
          <a:prstGeom prst="roundRect">
            <a:avLst>
              <a:gd fmla="val 10909" name="adj"/>
            </a:avLst>
          </a:prstGeom>
          <a:solidFill>
            <a:srgbClr val="12B5A6"/>
          </a:solidFill>
          <a:ln>
            <a:noFill/>
          </a:ln>
          <a:effectLst>
            <a:outerShdw blurRad="101600" rotWithShape="0" algn="bl" dir="5400000" dist="25400">
              <a:srgbClr val="1B214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6446520" y="2592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Resolved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6446520" y="2011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8805672" y="2779776"/>
            <a:ext cx="44805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 txBox="1"/>
          <p:nvPr/>
        </p:nvSpPr>
        <p:spPr>
          <a:xfrm>
            <a:off x="6309360" y="35478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Resolution </a:t>
            </a:r>
            <a:r>
              <a:rPr lang="en-US" sz="1050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sz="1050">
              <a:solidFill>
                <a:srgbClr val="5B628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 recorded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326880" y="2377440"/>
            <a:ext cx="2286000" cy="1005840"/>
          </a:xfrm>
          <a:prstGeom prst="roundRect">
            <a:avLst>
              <a:gd fmla="val 10909" name="adj"/>
            </a:avLst>
          </a:prstGeom>
          <a:solidFill>
            <a:srgbClr val="141B4D"/>
          </a:solidFill>
          <a:ln>
            <a:noFill/>
          </a:ln>
          <a:effectLst>
            <a:outerShdw blurRad="101600" rotWithShape="0" algn="bl" dir="5400000" dist="25400">
              <a:srgbClr val="1B214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9326880" y="259232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9326880" y="2011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9189720" y="354787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Final state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5800" y="4343400"/>
            <a:ext cx="10789800" cy="1638900"/>
          </a:xfrm>
          <a:prstGeom prst="roundRect">
            <a:avLst>
              <a:gd fmla="val 5294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 txBox="1"/>
          <p:nvPr/>
        </p:nvSpPr>
        <p:spPr>
          <a:xfrm>
            <a:off x="960120" y="4526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Enforced at the service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960057" y="4965145"/>
            <a:ext cx="10241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495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Only Reviewer / Administrator roles see or can trigger status-change actions — role-aware UI and API checks.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B21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Skipping a stage (e.g. Open → Closed directly) returns 400 Bad Request with a clear workflow-violation message.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28600" marR="0" rtl="0" algn="l">
              <a:spcBef>
                <a:spcPts val="600"/>
              </a:spcBef>
              <a:spcAft>
                <a:spcPts val="0"/>
              </a:spcAft>
              <a:buClr>
                <a:srgbClr val="1B21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Every transition writes a StatusHistory row (backen</a:t>
            </a:r>
            <a:r>
              <a:rPr lang="en-US" sz="1250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r>
              <a:rPr b="0" i="0" lang="en-US" sz="12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: who changed it, from what, to what, when — full audit trail.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PART 2 — AI ASSISTANT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548640" y="70409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the assistant answers a question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800100" y="20345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 txBox="1"/>
          <p:nvPr/>
        </p:nvSpPr>
        <p:spPr>
          <a:xfrm>
            <a:off x="800100" y="20345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Chunk &amp; Embed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822960" y="3410595"/>
            <a:ext cx="297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i="0" lang="en-US" sz="12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On upload, documents are split into overlapping text chunks. Each chunk is converted into a numeric vector (embedding) representing its meaning.</a:t>
            </a:r>
            <a:endParaRPr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087368" y="3328416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4343400" y="1783080"/>
            <a:ext cx="3520440" cy="329184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4594860" y="20345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 txBox="1"/>
          <p:nvPr/>
        </p:nvSpPr>
        <p:spPr>
          <a:xfrm>
            <a:off x="4594860" y="20345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Retrieve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4617708" y="3410595"/>
            <a:ext cx="297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2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The user's question is embedded the same way, then compared by cosine similarity against every Approved chunk to find the most relevant matches.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882128" y="3328416"/>
            <a:ext cx="237744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8138160" y="1783080"/>
            <a:ext cx="3520440" cy="329184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214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8389620" y="2034540"/>
            <a:ext cx="685800" cy="685800"/>
          </a:xfrm>
          <a:prstGeom prst="ellipse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 txBox="1"/>
          <p:nvPr/>
        </p:nvSpPr>
        <p:spPr>
          <a:xfrm>
            <a:off x="8389620" y="20345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 txBox="1"/>
          <p:nvPr/>
        </p:nvSpPr>
        <p:spPr>
          <a:xfrm>
            <a:off x="8412480" y="28803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Generate, Grounded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 txBox="1"/>
          <p:nvPr/>
        </p:nvSpPr>
        <p:spPr>
          <a:xfrm>
            <a:off x="8412480" y="3410595"/>
            <a:ext cx="297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alibri"/>
              <a:buNone/>
            </a:pPr>
            <a:r>
              <a:rPr b="0" i="0" lang="en-US" sz="12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Only the retrieved chunks are given to the generator, with an instruction to say "I don't know" if the context doesn't cover the question.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fmla="val 7826" name="adj"/>
            </a:avLst>
          </a:prstGeom>
          <a:solidFill>
            <a:srgbClr val="1E2761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 txBox="1"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Response includes source references (document title, chunk index, similarity score) and an isGrounded flag — the UI shows an amber banner when the assistant genuinely doesn't know.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 rot="5400765">
            <a:off x="3487125" y="3888600"/>
            <a:ext cx="1347300" cy="266700"/>
          </a:xfrm>
          <a:prstGeom prst="rightArrow">
            <a:avLst>
              <a:gd fmla="val 50000" name="adj1"/>
              <a:gd fmla="val 15263" name="adj2"/>
            </a:avLst>
          </a:prstGeom>
          <a:solidFill>
            <a:srgbClr val="C7CCDE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548640" y="517723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GOVERNANCE — KEY DIFFERENTIATOR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647465" y="94244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approval gate: why the AI can be trusted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647594" y="2148709"/>
            <a:ext cx="2094360" cy="1190471"/>
          </a:xfrm>
          <a:prstGeom prst="roundRect">
            <a:avLst>
              <a:gd fmla="val 1043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647464" y="2510957"/>
            <a:ext cx="2094485" cy="46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6"/>
              <a:buFont typeface="Cambria"/>
              <a:buNone/>
            </a:pPr>
            <a:r>
              <a:rPr b="1" i="0" lang="en-US" sz="154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Uploaded</a:t>
            </a:r>
            <a:endParaRPr b="0" i="0" sz="15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2799073" y="2630073"/>
            <a:ext cx="218956" cy="22774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457797" y="3545221"/>
            <a:ext cx="2475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15"/>
              <a:buFont typeface="Calibri"/>
              <a:buNone/>
            </a:pPr>
            <a:r>
              <a:rPr b="1" i="0" lang="en-US" sz="1111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Reviewer or Admin submits a file</a:t>
            </a:r>
            <a:endParaRPr b="1" i="0" sz="11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075147" y="2148709"/>
            <a:ext cx="2094360" cy="1190471"/>
          </a:xfrm>
          <a:prstGeom prst="roundRect">
            <a:avLst>
              <a:gd fmla="val 10435" name="adj"/>
            </a:avLst>
          </a:prstGeom>
          <a:solidFill>
            <a:srgbClr val="9AA3C4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3075147" y="2521387"/>
            <a:ext cx="2094485" cy="46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6"/>
              <a:buFont typeface="Cambria"/>
              <a:buNone/>
            </a:pPr>
            <a:r>
              <a:rPr b="1" i="0" lang="en-US" sz="154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Pending</a:t>
            </a:r>
            <a:endParaRPr b="0" i="0" sz="15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226626" y="2630073"/>
            <a:ext cx="218956" cy="22774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284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 txBox="1"/>
          <p:nvPr/>
        </p:nvSpPr>
        <p:spPr>
          <a:xfrm>
            <a:off x="2884814" y="3545196"/>
            <a:ext cx="2475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15"/>
              <a:buFont typeface="Calibri"/>
              <a:buNone/>
            </a:pPr>
            <a:r>
              <a:rPr b="1" i="0" lang="en-US" sz="1211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Stored, but invisible to RagService</a:t>
            </a:r>
            <a:endParaRPr b="1" i="0" sz="12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502701" y="2148709"/>
            <a:ext cx="2094360" cy="1190471"/>
          </a:xfrm>
          <a:prstGeom prst="roundRect">
            <a:avLst>
              <a:gd fmla="val 10435" name="adj"/>
            </a:avLst>
          </a:prstGeom>
          <a:solidFill>
            <a:srgbClr val="12B5A6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 txBox="1"/>
          <p:nvPr/>
        </p:nvSpPr>
        <p:spPr>
          <a:xfrm>
            <a:off x="5502571" y="2510943"/>
            <a:ext cx="2094485" cy="465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6"/>
              <a:buFont typeface="Cambria"/>
              <a:buNone/>
            </a:pPr>
            <a:r>
              <a:rPr b="1" i="0" lang="en-US" sz="154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Approved</a:t>
            </a:r>
            <a:endParaRPr b="0" i="0" sz="15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5388441" y="3545171"/>
            <a:ext cx="24753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15"/>
              <a:buFont typeface="Calibri"/>
              <a:buNone/>
            </a:pPr>
            <a:r>
              <a:rPr b="1" i="0" lang="en-US" sz="1111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Administrator only — now retrievable</a:t>
            </a:r>
            <a:endParaRPr b="1" i="0" sz="11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020981" y="4714241"/>
            <a:ext cx="2370600" cy="1190400"/>
          </a:xfrm>
          <a:prstGeom prst="roundRect">
            <a:avLst>
              <a:gd fmla="val 13333" name="adj"/>
            </a:avLst>
          </a:prstGeom>
          <a:solidFill>
            <a:srgbClr val="C2415A"/>
          </a:solidFill>
          <a:ln>
            <a:noFill/>
          </a:ln>
        </p:spPr>
        <p:txBody>
          <a:bodyPr anchorCtr="0" anchor="ctr" bIns="88350" lIns="88350" spcFirstLastPara="1" rIns="88350" wrap="square" tIns="88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3"/>
          </a:p>
        </p:txBody>
      </p:sp>
      <p:sp>
        <p:nvSpPr>
          <p:cNvPr id="356" name="Google Shape;356;p13"/>
          <p:cNvSpPr txBox="1"/>
          <p:nvPr/>
        </p:nvSpPr>
        <p:spPr>
          <a:xfrm>
            <a:off x="3120276" y="4898299"/>
            <a:ext cx="21720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6"/>
              <a:buFont typeface="Calibri"/>
              <a:buNone/>
            </a:pPr>
            <a:r>
              <a:rPr b="1" i="0" lang="en-US" sz="18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8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8503920" y="2148840"/>
            <a:ext cx="3200400" cy="4251960"/>
          </a:xfrm>
          <a:prstGeom prst="roundRect">
            <a:avLst>
              <a:gd fmla="val 2571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"/>
          <p:cNvSpPr txBox="1"/>
          <p:nvPr/>
        </p:nvSpPr>
        <p:spPr>
          <a:xfrm>
            <a:off x="873252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8755383" y="2889625"/>
            <a:ext cx="26976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Anyone can propose knowledge; only an Administrator can put it in front of end users.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RagService.RetrieveTopChunksAsync filters strictly on Status == Approved.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Guarantees answers come from vetted material — never the open internet, never an unreviewed upload.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1B21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Mirrors real lab safety governance: SOPs are reviewed before they're trusted.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447115" y="70409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Automated tests across every layer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548640" y="1645920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868680" y="17373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Unit —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 txBox="1"/>
          <p:nvPr/>
        </p:nvSpPr>
        <p:spPr>
          <a:xfrm>
            <a:off x="868680" y="210312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IncidentServiceTests.cs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/>
        </p:nvSpPr>
        <p:spPr>
          <a:xfrm>
            <a:off x="3657600" y="16459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Status-transition rules validated against an in-memory database — no SQL Server required.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48640" y="2670048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548640" y="2670048"/>
            <a:ext cx="82296" cy="914400"/>
          </a:xfrm>
          <a:prstGeom prst="rect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 txBox="1"/>
          <p:nvPr/>
        </p:nvSpPr>
        <p:spPr>
          <a:xfrm>
            <a:off x="868680" y="27614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Unit — AI Math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868680" y="312724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VectorMathTests.cs, TextChunkerTests.cs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3657600" y="2670048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Cosine similarity and chunking logic verified in isolation, independent of any provider.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548640" y="3694176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FFFFFF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48640" y="3694176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 txBox="1"/>
          <p:nvPr/>
        </p:nvSpPr>
        <p:spPr>
          <a:xfrm>
            <a:off x="868680" y="378561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Integration —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 txBox="1"/>
          <p:nvPr/>
        </p:nvSpPr>
        <p:spPr>
          <a:xfrm>
            <a:off x="868680" y="415137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IncidentsControllerIntegrationTests.cs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3657600" y="3694176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Full HTTP pipeline via WebApplicationFactory: register → login → create incident → fetch.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48640" y="4718304"/>
            <a:ext cx="11064240" cy="914400"/>
          </a:xfrm>
          <a:prstGeom prst="roundRect">
            <a:avLst>
              <a:gd fmla="val 9000" name="adj"/>
            </a:avLst>
          </a:prstGeom>
          <a:solidFill>
            <a:srgbClr val="F4F6FC"/>
          </a:solidFill>
          <a:ln cap="flat" cmpd="sng" w="12700">
            <a:solidFill>
              <a:srgbClr val="D7DE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548640" y="4718304"/>
            <a:ext cx="82296" cy="914400"/>
          </a:xfrm>
          <a:prstGeom prst="rect">
            <a:avLst/>
          </a:prstGeom>
          <a:solidFill>
            <a:srgbClr val="12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 txBox="1"/>
          <p:nvPr/>
        </p:nvSpPr>
        <p:spPr>
          <a:xfrm>
            <a:off x="868680" y="480974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Unit —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868680" y="517550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B5A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2B5A6"/>
                </a:solidFill>
                <a:latin typeface="Calibri"/>
                <a:ea typeface="Calibri"/>
                <a:cs typeface="Calibri"/>
                <a:sym typeface="Calibri"/>
              </a:rPr>
              <a:t>DocumentApprovalTests.cs, AdminServiceTests.cs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3657600" y="471830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1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140"/>
                </a:solidFill>
                <a:latin typeface="Calibri"/>
                <a:ea typeface="Calibri"/>
                <a:cs typeface="Calibri"/>
                <a:sym typeface="Calibri"/>
              </a:rPr>
              <a:t>Approval gate and admin-only account management enforced and tested explicitly.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548640" y="581558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150"/>
              <a:buFont typeface="Courier New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9326880" y="3840480"/>
            <a:ext cx="5029200" cy="50292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86868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15"/>
          <p:cNvCxnSpPr/>
          <p:nvPr/>
        </p:nvCxnSpPr>
        <p:spPr>
          <a:xfrm>
            <a:off x="868680" y="3977640"/>
            <a:ext cx="2194560" cy="0"/>
          </a:xfrm>
          <a:prstGeom prst="straightConnector1">
            <a:avLst/>
          </a:prstGeom>
          <a:noFill/>
          <a:ln cap="flat" cmpd="sng" w="31750">
            <a:solidFill>
              <a:srgbClr val="12B5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5"/>
          <p:cNvSpPr txBox="1"/>
          <p:nvPr/>
        </p:nvSpPr>
        <p:spPr>
          <a:xfrm>
            <a:off x="868680" y="42062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LabTrack  —  Laboratory Incident Management &amp; AI Assistant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28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284"/>
                </a:solidFill>
                <a:latin typeface="Calibri"/>
                <a:ea typeface="Calibri"/>
                <a:cs typeface="Calibri"/>
                <a:sym typeface="Calibri"/>
              </a:rPr>
              <a:t>Swagger: /swagger   ·   Frontend: localhost:5173   ·   Tests: dotnet test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